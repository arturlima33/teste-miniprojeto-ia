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1051560"/>
            <a:ext cx="82296" cy="4251960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1005840"/>
            <a:ext cx="9966960" cy="9144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2500" b="1">
                <a:solidFill>
                  <a:srgbClr val="89DFD9"/>
                </a:solidFill>
                <a:latin typeface="Aptos"/>
              </a:defRPr>
            </a:pPr>
            <a:r>
              <a:t>SVM + INTELIGÊNCIA DE ENXAMES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901952"/>
            <a:ext cx="9738360" cy="150876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Otimização de hiperparâmetros</a:t>
            </a:r>
            <a:br/>
            <a:r>
              <a:t>para classificação de satélites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51960"/>
            <a:ext cx="9144000" cy="7315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00" b="0">
                <a:solidFill>
                  <a:srgbClr val="DCE6F2"/>
                </a:solidFill>
                <a:latin typeface="Aptos"/>
              </a:defRPr>
            </a:pPr>
            <a:r>
              <a:t>Rizkallah (2025) • 8 métodos • PSO adaptativo • NOVA extensão: F1-macro 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62472"/>
            <a:ext cx="9692640" cy="36576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0">
                <a:solidFill>
                  <a:srgbClr val="DCE6F2"/>
                </a:solidFill>
                <a:latin typeface="Aptos"/>
              </a:defRPr>
            </a:pPr>
            <a:r>
              <a:t>Equipe: [INSERIR NOMES DOS 6 INTEGRANTES]  |  Disciplina: [PREENCHER]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1  •  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O artigo científico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Rizkallah, Lydia Wahid — publicada em 17 de abril de 2025.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International Journal of Data Science and Analytics, Springer, v.20.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Journal Impact Factor 2,9 (2025); indexado na Web of Science (ESCI).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DOI: 10.1007/s41060-025-00762-7.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Objetivo: encontrar bons C e gamma de uma SVM com kernel RBF.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1  • 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Por que otimizar?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Imagens de satélite contêm padrões espectrais difíceis de separar por regras simples.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SVM com kernel RBF modela fronteiras não lineares entre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 qualidade da classificação depende dos hiperparâmetros definidos antes do treino.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Buscamos boa generalização, não só acurácia sobre os dados vistos.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1  •  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Entendendo a SVM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Cada amostra é um vetor com 36 medidas numéricas da imagem.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 SVM busca uma fronteira com boa margem entre as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 kernel RBF permite modelar separações não lineares.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 estratégia multiclasse emprega classificadores One-vs-One.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1  •  FUNDAMENTAÇÃO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Dois hiperparâmetros: C e gamma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 alto: penaliza mais erros de treinamento; pode reduzir a margem.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 baixo: maior tolerância a erros; pode suavizar a decisão.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Gamma alto: influência mais localizada de cada amostra.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Gamma baixo: influência mais ampla; risco de subajuste.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Uma partícula no PSO representa o par candidato (C, gamma).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1  •  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O que o artigo compara?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Meta-heurísticas: PSO, Simulated Annealing, Genetic Algorithm, Cuckoo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Métodos estatísticos: Bayesian Optimization, SHA, TPE e MCMC-MH.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Três orçamentos nominais: 20, 50, 100; dois espaços de busca.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Métricas: acurácia, precisão, recall, F1 e tempo.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2  • 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O dataset Satimage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Base pública: 294_satellite_image, PMLB (EpistasisLab).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6.435 amostras, 36 atributos numéricos, seis classes de cobertura de solo.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Atributos derivados de observações de satélite.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 código valida formato e número de classes antes da execução.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Distribuição desigual: classes com 626 a 1.533 exemplos (razão ≈2,45).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2  • 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Divisão sem vazamento do teste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607040" cy="685800"/>
          </a:xfrm>
          <a:prstGeom prst="roundRect">
            <a:avLst/>
          </a:prstGeom>
          <a:solidFill>
            <a:srgbClr val="255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36576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BASE ORIGINAL  |  6.435 AMOSTRAS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90672"/>
            <a:ext cx="7909560" cy="713232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7315200" cy="384048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DESENVOLVIMENTO 80%  |  5.148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090672"/>
            <a:ext cx="2560320" cy="713232"/>
          </a:xfrm>
          <a:prstGeom prst="roundRect">
            <a:avLst/>
          </a:prstGeom>
          <a:solidFill>
            <a:srgbClr val="D38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3236976"/>
            <a:ext cx="2057400" cy="41148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TESTE 20%  |  1.287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70248"/>
            <a:ext cx="5230368" cy="71323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25696"/>
            <a:ext cx="4846320" cy="4023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00" b="1">
                <a:solidFill>
                  <a:srgbClr val="162A46"/>
                </a:solidFill>
                <a:latin typeface="Aptos"/>
              </a:defRPr>
            </a:pPr>
            <a:r>
              <a:t>AJUSTE: ~4.118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4270248"/>
            <a:ext cx="2532888" cy="71323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425696"/>
            <a:ext cx="2221992" cy="4023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VALIDAÇÃO: ~1.030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532180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413248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Conjunto de teste usado UMA VEZ para avaliar a solução após a otimização.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2  •  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Normalização sem vazamento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StandardScaler ajustado apenas nos exemplos de treino de cada fold.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 validação usa a mesma transformação sem recalcular média e desvio.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Uma opção permite validação cruzada estratificada de três folds.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Normalização é relevante porque RBF depende de distâncias entre amostras.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2  •  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Por que investigar o desbalanceamento?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Satimage tem 6 classes: mínimo 626 e máximo 1.533 exemplos.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Acurácia global pode dar prioridade às classes mais frequentes.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Nova extensão: testar SVM com class_weight=balanced (sem SMOTE).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Pesos calculados SOMENTE no treino; validação e teste não são reamostrados.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2  • 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Acurácia x F1-macro: o que muda?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Acurácia = número de acertos / total de amostras.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F1-macro = média simples do F1 das seis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Recall mínimo = menor recall individual; observa o pior caso.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F1 weighted pesa cada classe pela frequência; macro pesa igualmente.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Registrar também acurácia, recall macro, balanced accuracy e tempo.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3  •  OTIMIZADORES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PSO: inteligência de enxames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Uma população de 10 partículas representa possíveis pares (C, gamma).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Cada partícula possui posição, velocidade e seu melhor ponto já encontrado.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 enxame compartilha a melhor posição global observada.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 cada avaliação treinamos e validamos uma SVM.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Objetivo: minimizar fitness = –acurácia de validação.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3  •  OTIMIZADORES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Movimento das partículas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Inércia: mantém parte da velocidade anterior.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Componente cognitiva: aproxima a partícula de seu melhor ponto (pbest).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Componente social: aproxima da melhor solução do grupo (gbest).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Posição e velocidade são limitadas ao espaço normalizado [0, 1]².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3  •  OTIMIZADORES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Algoritmo genético (GA)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Dez indivíduos representam candidatos a C e gamma.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Seleção elitista preserva candidatos com melhor fitness.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Cruzamento combina valores de pais selecionados.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Mutação altera parâmetros para preservar diversidade.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3  •  OTIMIZADORES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Cuckoo Search (CS)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Usa 10 ninhos, cada qual associado a uma possível solução.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Novos candidatos usam passos aleatórios de distribuição de Lévy.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Candidatos melhores substituem os piores.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Parte dos ninhos é abandonada e reinicializada, simulando exploração.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3  •  OTIMIZADORES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Simulated Annealing (SA)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Inicia em uma combinação aleatória de hiperparâmetros.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Perturba continuamente a solução atual.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Pode aceitar soluções piores para escapar de ótimos locais.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Probabilidade de aceitação cai com a temperatura.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4  •  MÉTODOS ESTATÍSTICOS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Bayesian Optimization (BO)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Constrói modelo probabilístico da função de avaliação.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Usa processo gaussiano para prever média e incerteza.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Expected Improvement orienta novas tentativas.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Exige treinamento adicional do modelo substituto a cada rodada.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4  •  MÉTODOS ESTATÍSTICOS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Tree-structured Parzen Estimator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Divide candidatos observados em bons e ruins.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Estima distribuições de probabilidade para cada grupo.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Propõe combinações com melhor razão de densidades l(x)/g(x).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 artigo identifica TPE como competitivo em muitos cenários.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4  •  MÉTODOS ESTATÍSTICOS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Metropolis–Hastings (MCMC)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Começa por um par C e gamma e propõe novas combinações.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Uma distribuição-alvo favorece candidatos de maior acurácia.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 algoritmo aceita ou rejeita a proposta probabilisticamente.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Nossa implementação documenta temperatura e passo gaussiano.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4  •  MÉTODOS ESTATÍSTICOS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Successive Halving (SHA)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Avalia muitos candidatos inicialmente com menos recursos.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 cada estágio, conserva apenas os melhores candidatos.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Os sobreviventes recebem maior fração dos dados de treino.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4/5/6 estágios representam 30/62/126 avaliações, não 20/50/100.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Não comparar tempo de SHA sem considerar a fidelidade parcial e as avaliações.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4  •  SENSIBILIDADE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Linear versus logarítmica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Espaço estreito: C=0,1 a 10; gamma=0,01 a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Espaço amplo: C=0,1 a 1000; gamma=0,01 a 100.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Busca linear favorece intervalos absolutos grandes.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Escala log explora melhor diversas ordens de grandeza.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5  • 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Arquitetura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data.py → carrega e valida a base PMLB.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objective.py → define a SVM, validação e fitness comum.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optimizers.py → contém os oito métodos mais a extensão.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runner.py e main.py → executam, registram, plotam e exportam.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5  • 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Configuração reproduzível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config/experiments.json define PSO, 10 partículas e os braços A–D.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fitness_metric ∈ {accuracy, f1_macro}; class_weight ∈ {none, balanced}.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Todas as condições usam mesmos splits, sementes e budgets por comparação.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Manifesto, histórico e análises pareadas tornam o estudo auditável.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5  •  VERIFICAÇÃO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Como a implementação foi testada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25 testes automatizados passaram, inclusive os da nova extensão.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Os 8 algoritmos foram exercitados em dados sintéticos (verificação).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A–D e 2 otimizadores foram executados em teste funcional sintético.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Smoke serve SOMENTE para verificar código, não para provar melhora.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Resultados definitivos: exigem base Satimage real e análise de classes.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5  • 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Como executar e obter 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Instalação: python -m pip install -r requirements.txt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Testes: python -m pytest -q (25 aprovados)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Planejamento: python main.py --mode imbalance --dry-run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Execução real: python main.py --mode imbalance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Saídas: ablation_summary, interactions, adaptive_vs_pso e per_class.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5  •  VALIDADE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Riscos e limites científicos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 teste final NÃO influencia o fitness nem a escolha de C e gamma.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Normalização e pesos sempre ajustados apenas em dados de treinamento.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SHA: subamostras proporcionais, aninhadas e orçamento próprio.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Uma só divisão da Satimage limita a generalização das conclusões.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6  •  CONTRIBUIÇÃO 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Etapa anterior: PSO adaptativo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PSO tradicional: inércia fixa; PSO adaptativo: inércia decrescente.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Inércia: 0,9 na 1ª geração; 0,4 na última (se houver várias).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Após 2 gerações sem melhora, reinicia-se a pior partícula.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 versão adaptativa foi implementada em src/optimizers.py.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A NOVA melhoria modifica a função objetivo, não o movimento do PSO.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6  •  EXPERIMENTO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NOVA melhoria: quatro braços A–D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A: otimizar acurácia, sem pesos (controle).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B: otimizar F1-macro, sem pesos — efeito da métrica.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C: otimizar acurácia, pesos balanceados — efeito dos pesos.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D: F1-macro + pesos balanceados — efeito combinado.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6  •  RESULTADO A PREENCHER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Resultados A–D: inserir somente SATIMAGE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1792224"/>
            <a:ext cx="10607040" cy="411480"/>
          </a:xfrm>
          <a:prstGeom prst="roundRect">
            <a:avLst/>
          </a:prstGeom>
          <a:solidFill>
            <a:srgbClr val="D38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56231"/>
            <a:ext cx="10058400" cy="25603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DADOS REAIS PENDENTES: não apresentar números do modo smoke.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10515600" cy="832104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2624328"/>
            <a:ext cx="3840480" cy="4572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00" b="1">
                <a:solidFill>
                  <a:srgbClr val="162A46"/>
                </a:solidFill>
                <a:latin typeface="Aptos"/>
              </a:defRPr>
            </a:pPr>
            <a:r>
              <a:t>B −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615184"/>
            <a:ext cx="4572000" cy="4572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00" b="1">
                <a:solidFill>
                  <a:srgbClr val="25517E"/>
                </a:solidFill>
                <a:latin typeface="Aptos"/>
              </a:defRPr>
            </a:pPr>
            <a:r>
              <a:t>[Δ F1-MACRO ± DP]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93008"/>
            <a:ext cx="10515600" cy="832104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3648456"/>
            <a:ext cx="3840480" cy="4572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00" b="1">
                <a:solidFill>
                  <a:srgbClr val="162A46"/>
                </a:solidFill>
                <a:latin typeface="Aptos"/>
              </a:defRPr>
            </a:pPr>
            <a:r>
              <a:t>C −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639312"/>
            <a:ext cx="4572000" cy="4572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00" b="1">
                <a:solidFill>
                  <a:srgbClr val="25517E"/>
                </a:solidFill>
                <a:latin typeface="Aptos"/>
              </a:defRPr>
            </a:pPr>
            <a:r>
              <a:t>[Δ F1-MACRO ± DP]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17136"/>
            <a:ext cx="10515600" cy="832104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4672584"/>
            <a:ext cx="3840480" cy="4572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00" b="1">
                <a:solidFill>
                  <a:srgbClr val="162A46"/>
                </a:solidFill>
                <a:latin typeface="Aptos"/>
              </a:defRPr>
            </a:pPr>
            <a:r>
              <a:t>D −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663440"/>
            <a:ext cx="4572000" cy="4572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00" b="1">
                <a:solidFill>
                  <a:srgbClr val="25517E"/>
                </a:solidFill>
                <a:latin typeface="Aptos"/>
              </a:defRPr>
            </a:pPr>
            <a:r>
              <a:t>[Δ F1-MACRO ± DP]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5623560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715000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Comparar por método e semente; interação I = D−B−C+A.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6  •  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Critérios para aceitar ou rejeitar a hipótese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Resultado principal: diferença D−A no F1-macro (teste).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Conferir recall de cada classe e o menor recall individual.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Verificar o trade-off: ganho em classes raras versus acurácia/tempo.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Analisar B−A, C−A e a interação I = D−B−C+A.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43232" cy="109728"/>
          </a:xfrm>
          <a:prstGeom prst="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38328"/>
            <a:ext cx="100584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100" b="1">
                <a:solidFill>
                  <a:srgbClr val="0C9091"/>
                </a:solidFill>
                <a:latin typeface="Aptos"/>
              </a:defRPr>
            </a:pPr>
            <a:r>
              <a:t>INTEGRANTE 6  •  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52760" cy="100584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3100" b="1">
                <a:solidFill>
                  <a:srgbClr val="162A46"/>
                </a:solidFill>
                <a:latin typeface="Aptos"/>
              </a:defRPr>
            </a:pPr>
            <a:r>
              <a:t>Conclusões e 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35640" cy="12801"/>
          </a:xfrm>
          <a:prstGeom prst="rect">
            <a:avLst/>
          </a:prstGeom>
          <a:solidFill>
            <a:srgbClr val="CF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144000" cy="22860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000" b="0">
                <a:solidFill>
                  <a:srgbClr val="57697B"/>
                </a:solidFill>
                <a:latin typeface="Aptos"/>
              </a:defRPr>
            </a:pPr>
            <a:r>
              <a:t>SVM Satimage  |  Rizkallah (2025)  |  Miniprojeto Inteligência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 algn="r">
              <a:defRPr sz="1000" b="1">
                <a:solidFill>
                  <a:srgbClr val="0C9091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39112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Oito métodos da referência foram mantidos e um Adaptive PSO preservado.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NOVA extensão: F1-macro + pesos, experimento 2×2 reproduzível.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13048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r>
              <a:t>25 testes passaram; conclusões científicas exigem Satimage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0016"/>
            <a:ext cx="100584" cy="100584"/>
          </a:xfrm>
          <a:prstGeom prst="roundRect">
            <a:avLst/>
          </a:prstGeom>
          <a:solidFill>
            <a:srgbClr val="0C9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81144"/>
            <a:ext cx="10241280" cy="859536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950" b="0">
                <a:solidFill>
                  <a:srgbClr val="162A46"/>
                </a:solidFill>
                <a:latin typeface="Aptos"/>
              </a:defRPr>
            </a:pPr>
            <a:r>
              <a:t>Inserir tabelas e gráficos reais; preencher contribuições dos 6 integrantes.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504688"/>
            <a:ext cx="10497312" cy="57607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96127"/>
            <a:ext cx="9966960" cy="393192"/>
          </a:xfrm>
          <a:prstGeom prst="rect">
            <a:avLst/>
          </a:prstGeom>
          <a:noFill/>
        </p:spPr>
        <p:txBody>
          <a:bodyPr wrap="square" tIns="12700" bIns="12700">
            <a:spAutoFit/>
          </a:bodyPr>
          <a:lstStyle/>
          <a:p>
            <a:pPr>
              <a:defRPr sz="1500" b="1">
                <a:solidFill>
                  <a:srgbClr val="162A46"/>
                </a:solidFill>
                <a:latin typeface="Aptos"/>
              </a:defRPr>
            </a:pPr>
            <a:r>
              <a:t>Fontes: Rizkallah (2025); Springer; PMLB; scikit-learn; literatura Satimage.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